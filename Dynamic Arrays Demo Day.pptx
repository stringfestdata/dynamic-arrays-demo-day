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stringfestdata.gumroad.com/l/mxlais?layout=profi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stringfestanalytics.com/maxl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stringfestdata.gumroad.com/l/mxlais?layout=profile" TargetMode="External"/><Relationship Id="rId2" Type="http://schemas.openxmlformats.org/officeDocument/2006/relationships/hyperlink" Target="https://stringfestanalytics.com/maxl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</a:t>
            </a:r>
            <a:pPr algn="l" indent="0" marL="0">
              <a:buNone/>
            </a:pPr>
            <a:r>
              <a:rPr lang="en-US" sz="11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ANALYTICS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Dynamic Arrays</a:t>
            </a:r>
            <a:endParaRPr lang="en-US" sz="5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Day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4114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that filter, sort, and chart themselves - no helper columns required.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424160" y="5650992"/>
            <a:ext cx="594360" cy="-713232"/>
          </a:xfrm>
          <a:prstGeom prst="line">
            <a:avLst/>
          </a:prstGeom>
          <a:noFill/>
          <a:ln w="50800">
            <a:solidFill>
              <a:srgbClr val="CF3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18520" y="4937760"/>
            <a:ext cx="594360" cy="713232"/>
          </a:xfrm>
          <a:prstGeom prst="line">
            <a:avLst/>
          </a:prstGeom>
          <a:noFill/>
          <a:ln w="50800">
            <a:solidFill>
              <a:srgbClr val="CF33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6185916"/>
            <a:ext cx="594360" cy="-713232"/>
          </a:xfrm>
          <a:prstGeom prst="line">
            <a:avLst/>
          </a:prstGeom>
          <a:noFill/>
          <a:ln w="50800">
            <a:solidFill>
              <a:srgbClr val="CF33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18520" y="5472684"/>
            <a:ext cx="594360" cy="713232"/>
          </a:xfrm>
          <a:prstGeom prst="line">
            <a:avLst/>
          </a:prstGeom>
          <a:noFill/>
          <a:ln w="50800">
            <a:solidFill>
              <a:srgbClr val="CF333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you've ever...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copied a formula down thousands of rows,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fought nested IFs just to filter or sort,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 rebuilt the same chart by hand again...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F4C7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session is for you.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6263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ANALYTICS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21208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617220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62356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dynamic arrays change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formula returns a whole list of results - it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"spills" across a range automatically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recalculate as your data changes - no dragging, no copying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starts to feel less like a grid of cells and more like a flexible reporting tool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toolkit: UNIQUE, FILTER, SORTBY, XLOOKUP, and the spill (#) operator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38160" y="1645920"/>
            <a:ext cx="3291840" cy="41605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1965960"/>
            <a:ext cx="2788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
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spc="100" kern="0" dirty="0">
                <a:solidFill>
                  <a:srgbClr val="F4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WAY
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Copy, paste, repair - every time the data changes
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spc="100" kern="0" dirty="0">
                <a:solidFill>
                  <a:srgbClr val="F4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ARRAYS
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formula once, it updates itself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  </a:t>
            </a:r>
            <a:pPr algn="l"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a clean, deduplicated list that updates itself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  </a:t>
            </a:r>
            <a:pPr algn="l"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only the rows that meet your conditions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2918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SORTBY   </a:t>
            </a:r>
            <a:pPr algn="l"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results without touching your source data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1605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XLOOKUP   </a:t>
            </a:r>
            <a:pPr algn="l"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lookups that fix everything VLOOKUP got wrong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CF333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 (#) + chart   </a:t>
            </a:r>
            <a:pPr algn="l"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fully dynamic, interactive visualization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>
                    <a:alpha val="8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60120" y="3657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Pulling distinct values with UNIQUE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21208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617220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62356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 - a self-updating distinct list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the unique rows from a table - one formula, no manual cleanup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out how many duplicates are actually hiding in your data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a distinct list into dropdowns and other parts of your workbook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maintaining manual "lookup lists" by hand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6858000" cy="54864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572000"/>
            <a:ext cx="73152" cy="54864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457200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=UNIQUE(Table1[Species])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6858000" cy="54864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212080"/>
            <a:ext cx="73152" cy="54864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521208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=ROWS(Table1) - ROWS(UNIQUE(Table1))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20040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F33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82880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
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spills down automatically. Add a new species to the source and the list grows on its own - nothing to drag.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>
                    <a:alpha val="8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60120" y="3657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Returning records with FILTER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21208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617220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62356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 - your in-cell query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only the rows that meet a condition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AND criteria with the multiplication operator  ( * )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OR criteria with the addition operator  ( + )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headers along with your filtered results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434840"/>
            <a:ext cx="6949440" cy="50292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434840"/>
            <a:ext cx="73152" cy="5029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443484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=FILTER(Data, Data[Region]="West")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983480"/>
            <a:ext cx="6949440" cy="50292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983480"/>
            <a:ext cx="73152" cy="5029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498348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-&gt;  =FILTER(Data, (Region="West")*(Sales&gt;500))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5532120"/>
            <a:ext cx="6949440" cy="50292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5532120"/>
            <a:ext cx="73152" cy="5029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553212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  -&gt;  =FILTER(Data, (Region="West")+(Region="East"))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645920"/>
            <a:ext cx="3108960" cy="224028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82880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
</a:t>
            </a:r>
            <a:endParaRPr lang="en-US" sz="1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AND   (both must be true)
</a:t>
            </a:r>
            <a:endParaRPr lang="en-US" sz="1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OR   (either can be true)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>
                    <a:alpha val="8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60120" y="3657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Sorting flexibly with SORTBY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21208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617220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62356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SORTBY - order without rearranging source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one column, ascending or descending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multiple columns at once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only the columns you actually want in the result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source data stays untouched - the output reorders itself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6949440" cy="50292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572000"/>
            <a:ext cx="73152" cy="5029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457200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=SORTBY(Data, Data[Sales], -1)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5120640"/>
            <a:ext cx="6949440" cy="50292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120640"/>
            <a:ext cx="73152" cy="5029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512064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=SORTBY(Data, Data[Region], 1, Data[Sales], -1)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645920"/>
            <a:ext cx="3108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F33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8288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order codes
</a:t>
            </a:r>
            <a:endParaRPr lang="en-US" sz="1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=  ascending
</a:t>
            </a:r>
            <a:endParaRPr lang="en-US" sz="1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descending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>
                    <a:alpha val="8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60120" y="3657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 lookups with XLOOKUP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21208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617220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62356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XLOOKUP - simpler, safer, easier to read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a value to the left - something VLOOKUP simply cannot do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location or department name to an employee table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 default when there's no match - no IFERROR wrapper needed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column-index counting that breaks when you insert a column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709160"/>
            <a:ext cx="6949440" cy="54864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709160"/>
            <a:ext cx="73152" cy="54864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470916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=XLOOKUP(EmpID, ID_col, Dept_col, "Not found")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21040" y="1645920"/>
            <a:ext cx="3108960" cy="283464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187452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VLOOKUP?</a:t>
            </a:r>
            <a:endParaRPr lang="en-US" sz="17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look left</a:t>
            </a:r>
            <a:endParaRPr lang="en-US" sz="17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on inserted columns</a:t>
            </a:r>
            <a:endParaRPr lang="en-US" sz="17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IFERROR for misses</a:t>
            </a:r>
            <a:endParaRPr lang="en-US" sz="1700" dirty="0"/>
          </a:p>
          <a:p>
            <a:pPr algn="l"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Hard-coded column numbers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FFFF">
                    <a:alpha val="85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960120" y="3657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Spilled ranges + a fully dynamic chart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21208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617220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62356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spill operator (#) drives the chart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6949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to a whole spilled range with the # operator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a dropdown from a UNIQUE result so it updates automatically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FILTER to feed the chart only the rows you've selected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named ranges at spilled arrays so the chart redraws itself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6949440" cy="50292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572000"/>
            <a:ext cx="73152" cy="5029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457200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=UNIQUE(Data[Species])#     &lt;- reference the spill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5120640"/>
            <a:ext cx="6949440" cy="502920"/>
          </a:xfrm>
          <a:prstGeom prst="rect">
            <a:avLst/>
          </a:prstGeom>
          <a:solidFill>
            <a:srgbClr val="FBFAF5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5120640"/>
            <a:ext cx="73152" cy="5029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5120640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=FILTER(Data, Data[Species]=Selected)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0" y="1645920"/>
            <a:ext cx="310896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F33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8288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
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dropdown, FILTER updates, named ranges shift, the scatterplot redraws itself. Zero manual steps.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end, you've built...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9164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3474720" cy="109728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Self-updating distinct lists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691640"/>
            <a:ext cx="3474720" cy="109728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in-cell query engine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91640"/>
            <a:ext cx="3474720" cy="109728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SORTBY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reordering, source untouched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566160"/>
            <a:ext cx="3474720" cy="109728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XLOOKUP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Lookups that don't break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34840" y="356616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3566160"/>
            <a:ext cx="3474720" cy="109728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Spill (#)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61772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that follow the data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4747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566160"/>
            <a:ext cx="3474720" cy="109728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Dynamic chart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321040" y="4343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viz that redraws itself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live for free.
</a:t>
            </a: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C7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with the membership.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263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ANALYTICS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698480" y="576072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521208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6172200"/>
            <a:ext cx="457200" cy="-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5623560"/>
            <a:ext cx="457200" cy="54864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afterward with the membership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files from today's demo to rebuild every workflow yourself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replay of the session to revisit any step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materials to drill UNIQUE, FILTER, SORTBY, XLOOKUP, and spills</a:t>
            </a:r>
            <a:endParaRPr lang="en-US" sz="17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archive of past sessions - keep building your Excel skills over time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5074920"/>
            <a:ext cx="9601200" cy="91440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5074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membership  -&gt;  </a:t>
            </a:r>
            <a:pPr algn="l"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https://stringfestdata.gumroad.com/l/mxlais?layout=profile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deeper: the book + free practice files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9164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120640" cy="128016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 Data Analytics in Excel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O'Reilly Media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5661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treatment of dynamic arrays and modern Excel analytics - the book this demo is drawn from. Read it cover to cover or use it as a reference.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691640"/>
            <a:ext cx="5120640" cy="128016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- FREE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Companion practice files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datasets and exercises that go with the book. Practice the exact formulas from today, hands-on, at no cost.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4663440" cy="59436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44348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https://stringfestanalytics.com/maxl/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your instructor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George Mount
</a:t>
            </a:r>
            <a:endParaRPr lang="en-US" sz="2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Founder, Stringfest Analytics  -  Microsoft Excel MVP
</a:t>
            </a:r>
            <a:endParaRPr lang="en-US" sz="2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of </a:t>
            </a:r>
            <a:pPr algn="l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Advancing into Analytics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Data Analytics in Excel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(O'Reilly).
</a:t>
            </a:r>
            <a:endParaRPr lang="en-US" sz="2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courses on LinkedIn Learning have reached hundreds of thousands of learners. I help professionals and teams get more value from Excel, analytics, automation, and AI, with practical, business-ready workflows you can actually use after the session ends.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0" y="1691640"/>
            <a:ext cx="2743200" cy="18745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O'Reilly books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8686800" y="3749040"/>
            <a:ext cx="2743200" cy="1874520"/>
          </a:xfrm>
          <a:prstGeom prst="rect">
            <a:avLst/>
          </a:prstGeom>
          <a:solidFill>
            <a:srgbClr val="1F212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</a:t>
            </a:r>
            <a:endParaRPr lang="en-US" sz="4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reached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1064240" y="6327648"/>
            <a:ext cx="320040" cy="-384048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5943600"/>
            <a:ext cx="320040" cy="384048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0" y="6615684"/>
            <a:ext cx="320040" cy="-384048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84280" y="6231636"/>
            <a:ext cx="320040" cy="384048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this is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05840" cy="54864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212080" cy="45720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great fit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build or maintain Excel reports at work</a:t>
            </a:r>
            <a:endParaRPr lang="en-US" sz="14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with operational or financial data</a:t>
            </a:r>
            <a:endParaRPr lang="en-US" sz="14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of reporting or dashboards</a:t>
            </a:r>
            <a:endParaRPr lang="en-US" sz="14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move past manual, formula-heavy workbooks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45920"/>
            <a:ext cx="5212080" cy="457200"/>
          </a:xfrm>
          <a:prstGeom prst="rect">
            <a:avLst/>
          </a:prstGeom>
          <a:solidFill>
            <a:srgbClr val="1F212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Probably not a fit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new to Excel, looking for step-by-step basics</a:t>
            </a:r>
            <a:endParaRPr lang="en-US" sz="14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never written a formula before</a:t>
            </a:r>
            <a:endParaRPr lang="en-US" sz="14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Mainly personal or occasional Excel use</a:t>
            </a:r>
            <a:endParaRPr lang="en-US" sz="145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Browsing free webinars with no reporting problem to solve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1064240" y="594360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07140" y="553212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64240" y="6252210"/>
            <a:ext cx="342900" cy="-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07140" y="5840730"/>
            <a:ext cx="342900" cy="411480"/>
          </a:xfrm>
          <a:prstGeom prst="line">
            <a:avLst/>
          </a:prstGeom>
          <a:noFill/>
          <a:ln w="31750">
            <a:solidFill>
              <a:srgbClr val="CF33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Stringfest Analytics  -  Dynamic Arrays Demo Day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</a:t>
            </a:r>
            <a:pPr algn="l" indent="0" marL="0">
              <a:buNone/>
            </a:pPr>
            <a:r>
              <a:rPr lang="en-US" sz="11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ANALYTICS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your reports</a:t>
            </a:r>
            <a:endParaRPr lang="en-US" sz="5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for you.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24160" y="3959352"/>
            <a:ext cx="594360" cy="-713232"/>
          </a:xfrm>
          <a:prstGeom prst="line">
            <a:avLst/>
          </a:prstGeom>
          <a:noFill/>
          <a:ln w="50800">
            <a:solidFill>
              <a:srgbClr val="CF33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18520" y="3246120"/>
            <a:ext cx="594360" cy="713232"/>
          </a:xfrm>
          <a:prstGeom prst="line">
            <a:avLst/>
          </a:prstGeom>
          <a:noFill/>
          <a:ln w="50800">
            <a:solidFill>
              <a:srgbClr val="CF33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4494276"/>
            <a:ext cx="594360" cy="-713232"/>
          </a:xfrm>
          <a:prstGeom prst="line">
            <a:avLst/>
          </a:prstGeom>
          <a:noFill/>
          <a:ln w="50800">
            <a:solidFill>
              <a:srgbClr val="CF33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18520" y="3781044"/>
            <a:ext cx="594360" cy="713232"/>
          </a:xfrm>
          <a:prstGeom prst="line">
            <a:avLst/>
          </a:prstGeom>
          <a:noFill/>
          <a:ln w="50800">
            <a:solidFill>
              <a:srgbClr val="CF33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5074920"/>
            <a:ext cx="10881360" cy="1188720"/>
          </a:xfrm>
          <a:prstGeom prst="rect">
            <a:avLst/>
          </a:prstGeom>
          <a:solidFill>
            <a:srgbClr val="CF333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0749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&amp; replay:  </a:t>
            </a:r>
            <a:pPr algn="l" indent="0" marL="0">
              <a:lnSpc>
                <a:spcPct val="140000"/>
              </a:lnSpc>
              <a:buNone/>
            </a:pPr>
            <a:r>
              <a:rPr lang="en-US" sz="13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https://stringfestdata.gumroad.com/l/mxlais?layout=profile
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practice files:  </a:t>
            </a:r>
            <a:pPr algn="l" indent="0" marL="0">
              <a:lnSpc>
                <a:spcPct val="140000"/>
              </a:lnSpc>
              <a:buNone/>
            </a:pPr>
            <a:r>
              <a:rPr lang="en-US" sz="13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https://stringfestanalytics.com/maxl/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Stringfest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Arrays Demo Day</dc:title>
  <dc:subject>PptxGenJS Presentation</dc:subject>
  <dc:creator>George Mount</dc:creator>
  <cp:lastModifiedBy>George Mount</cp:lastModifiedBy>
  <cp:revision>1</cp:revision>
  <dcterms:created xsi:type="dcterms:W3CDTF">2026-06-18T13:36:50Z</dcterms:created>
  <dcterms:modified xsi:type="dcterms:W3CDTF">2026-06-18T13:36:50Z</dcterms:modified>
</cp:coreProperties>
</file>